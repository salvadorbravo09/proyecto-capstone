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  <p:embeddedFont>
      <p:font typeface="Montserrat ExtraBold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CNenJxLaekXyVv0PfNgtOe8AO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568704-632B-4B40-9A99-4C491B55DDF0}">
  <a:tblStyle styleId="{9A568704-632B-4B40-9A99-4C491B55DD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c395ccb2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c395ccb2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c395ccb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c395ccb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395ccb22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ec395ccb22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395ccb22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ec395ccb22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395ccb22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c395ccb22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c395ccb22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c395ccb22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c395ccb22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ec395ccb22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c395ccb22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ec395ccb22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c662c42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ec662c42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c662c42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ec662c42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c662c42dc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c662c42dc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395ccb22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ec395ccb22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c662c42d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ec662c42d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c395ccb22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ec395ccb2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c395ccb22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ec395ccb22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dce1fb4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dce1fb4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dce1fb4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dce1fb4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c395ccb22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c395ccb22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1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3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53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53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53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3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3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3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Google Shape;23;p53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76A5AF">
                <a:alpha val="8784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54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5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6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5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6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7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8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58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8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9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9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9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5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59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9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53" name="Google Shape;5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61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62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4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6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6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9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69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9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70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70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70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70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70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70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70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0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1"/>
          <p:cNvSpPr txBox="1"/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1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" name="Google Shape;93;p71"/>
          <p:cNvSpPr txBox="1"/>
          <p:nvPr>
            <p:ph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1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71"/>
          <p:cNvSpPr txBox="1"/>
          <p:nvPr>
            <p:ph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71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3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73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73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73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73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73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73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73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73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73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73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73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3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4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74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74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7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7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7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7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7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7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7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7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7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7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8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8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81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82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8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8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b="0" i="0" sz="2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react.j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8760000" dist="19050">
              <a:srgbClr val="76A5AF">
                <a:alpha val="5019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RehabControl</a:t>
            </a:r>
            <a:endParaRPr/>
          </a:p>
        </p:txBody>
      </p:sp>
      <p:cxnSp>
        <p:nvCxnSpPr>
          <p:cNvPr id="159" name="Google Shape;159;p1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60" name="Google Shape;160;p1"/>
          <p:cNvSpPr txBox="1"/>
          <p:nvPr/>
        </p:nvSpPr>
        <p:spPr>
          <a:xfrm>
            <a:off x="2319775" y="2644350"/>
            <a:ext cx="4648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Salvador Bravo, Nicolás Lizama, Diego Mattas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Fecha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19-06-2026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Asignatura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Sección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001D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Profesores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Juan Pablo Mellado, Mabel Herrera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6" name="Google Shape;166;p3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Salvador</a:t>
            </a:r>
            <a:r>
              <a:rPr lang="en"/>
              <a:t> Bravo</a:t>
            </a:r>
            <a:endParaRPr/>
          </a:p>
        </p:txBody>
      </p:sp>
      <p:sp>
        <p:nvSpPr>
          <p:cNvPr id="167" name="Google Shape;167;p3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Diego Mattas</a:t>
            </a:r>
            <a:endParaRPr/>
          </a:p>
        </p:txBody>
      </p:sp>
      <p:sp>
        <p:nvSpPr>
          <p:cNvPr id="168" name="Google Shape;168;p3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Nicolás Lizama</a:t>
            </a:r>
            <a:endParaRPr/>
          </a:p>
        </p:txBody>
      </p:sp>
      <p:sp>
        <p:nvSpPr>
          <p:cNvPr id="169" name="Google Shape;169;p3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0" name="Google Shape;170;p3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71" name="Google Shape;171;p3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cxnSp>
        <p:nvCxnSpPr>
          <p:cNvPr id="172" name="Google Shape;172;p3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cxnSp>
        <p:nvCxnSpPr>
          <p:cNvPr id="173" name="Google Shape;173;p3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74" name="Google Shape;174;p3"/>
          <p:cNvSpPr txBox="1"/>
          <p:nvPr>
            <p:ph idx="4" type="title"/>
          </p:nvPr>
        </p:nvSpPr>
        <p:spPr>
          <a:xfrm>
            <a:off x="2607925" y="993975"/>
            <a:ext cx="3670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INTEGRANTES DEL PROYECTO</a:t>
            </a:r>
            <a:endParaRPr sz="2800"/>
          </a:p>
        </p:txBody>
      </p:sp>
      <p:sp>
        <p:nvSpPr>
          <p:cNvPr id="175" name="Google Shape;175;p3"/>
          <p:cNvSpPr txBox="1"/>
          <p:nvPr>
            <p:ph idx="1" type="subTitle"/>
          </p:nvPr>
        </p:nvSpPr>
        <p:spPr>
          <a:xfrm>
            <a:off x="946288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 de Desarrollo: Desarrollar la aplicación móvil, integrar notificaciones y realizar pruebas de calidad.</a:t>
            </a:r>
            <a:endParaRPr/>
          </a:p>
        </p:txBody>
      </p:sp>
      <p:sp>
        <p:nvSpPr>
          <p:cNvPr id="176" name="Google Shape;176;p3"/>
          <p:cNvSpPr txBox="1"/>
          <p:nvPr>
            <p:ph idx="1" type="subTitle"/>
          </p:nvPr>
        </p:nvSpPr>
        <p:spPr>
          <a:xfrm>
            <a:off x="3376938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Product Owner: Priorizar requisitos, gestionar el Product Backlog y validar el valor del producto.</a:t>
            </a:r>
            <a:endParaRPr/>
          </a:p>
        </p:txBody>
      </p:sp>
      <p:sp>
        <p:nvSpPr>
          <p:cNvPr id="177" name="Google Shape;177;p3"/>
          <p:cNvSpPr txBox="1"/>
          <p:nvPr>
            <p:ph idx="1" type="subTitle"/>
          </p:nvPr>
        </p:nvSpPr>
        <p:spPr>
          <a:xfrm>
            <a:off x="5959163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Scrum Master: Facilitar Scrum, coordinar al equipo y eliminar impedimentos.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c395ccb22_0_339"/>
          <p:cNvSpPr txBox="1"/>
          <p:nvPr>
            <p:ph type="title"/>
          </p:nvPr>
        </p:nvSpPr>
        <p:spPr>
          <a:xfrm>
            <a:off x="651725" y="4686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Descripción del 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3" name="Google Shape;183;g3ec395ccb22_0_339"/>
          <p:cNvSpPr txBox="1"/>
          <p:nvPr>
            <p:ph idx="1" type="body"/>
          </p:nvPr>
        </p:nvSpPr>
        <p:spPr>
          <a:xfrm>
            <a:off x="800375" y="1464650"/>
            <a:ext cx="73989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Problema o Dolor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Muchos centros de kinesiología aún gestionan sus procesos clínicos mediante registros manuales o herramientas poco integradas, lo que provoca dificultades en la organización de la información, el seguimiento de los pacientes y la continuidad de los tratamientos. Esta falta de digitalización genera ineficiencias operativas, errores en la gestión de datos y una comunicación limitada entre los profesionales de la salud y los pacientes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Propuesta de Solución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Para abordar esta problemática, se propone el desarrollo de una solución tecnológica orientada a la rehabilitación física, compuesta por aplicaciones sincronizadas en tiempo real. La plataforma permitirá gestionar pacientes, tratamientos y citas de manera centralizada, optimizando los procesos clínicos, mejorando el seguimiento de la evolución de los pacientes y fortaleciendo la comunicación entre kinesiólogos y usuarios.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t/>
            </a:r>
            <a:endParaRPr sz="1200"/>
          </a:p>
        </p:txBody>
      </p:sp>
      <p:cxnSp>
        <p:nvCxnSpPr>
          <p:cNvPr id="184" name="Google Shape;184;g3ec395ccb22_0_339"/>
          <p:cNvCxnSpPr/>
          <p:nvPr/>
        </p:nvCxnSpPr>
        <p:spPr>
          <a:xfrm>
            <a:off x="784900" y="400375"/>
            <a:ext cx="3004200" cy="1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idx="4" type="title"/>
          </p:nvPr>
        </p:nvSpPr>
        <p:spPr>
          <a:xfrm>
            <a:off x="879050" y="353313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2"/>
                </a:solidFill>
              </a:rPr>
              <a:t>Objetivos</a:t>
            </a:r>
            <a:endParaRPr sz="2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190" name="Google Shape;190;p8"/>
          <p:cNvCxnSpPr/>
          <p:nvPr/>
        </p:nvCxnSpPr>
        <p:spPr>
          <a:xfrm>
            <a:off x="938500" y="3148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91" name="Google Shape;191;p8"/>
          <p:cNvSpPr txBox="1"/>
          <p:nvPr>
            <p:ph type="title"/>
          </p:nvPr>
        </p:nvSpPr>
        <p:spPr>
          <a:xfrm>
            <a:off x="1026204" y="1386425"/>
            <a:ext cx="313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Objetivo General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192" name="Google Shape;192;p8"/>
          <p:cNvSpPr txBox="1"/>
          <p:nvPr>
            <p:ph idx="1" type="subTitle"/>
          </p:nvPr>
        </p:nvSpPr>
        <p:spPr>
          <a:xfrm>
            <a:off x="776300" y="2098275"/>
            <a:ext cx="3388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Desarrollar un ecosistema informático (aplicación web + app móvil) para centralizar la gestión de citas, el registro clínico y el seguimiento de ejercicios terapéuticos en centros de kinesiología privados.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>
            <p:ph idx="2" type="title"/>
          </p:nvPr>
        </p:nvSpPr>
        <p:spPr>
          <a:xfrm>
            <a:off x="4513900" y="1333113"/>
            <a:ext cx="36690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Objetivos </a:t>
            </a:r>
            <a:r>
              <a:rPr lang="en" sz="2400">
                <a:solidFill>
                  <a:schemeClr val="lt2"/>
                </a:solidFill>
              </a:rPr>
              <a:t>Específicos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194" name="Google Shape;194;p8"/>
          <p:cNvSpPr txBox="1"/>
          <p:nvPr>
            <p:ph idx="3" type="subTitle"/>
          </p:nvPr>
        </p:nvSpPr>
        <p:spPr>
          <a:xfrm>
            <a:off x="4002900" y="1882975"/>
            <a:ext cx="49557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Optimizar la gestión de citas, reduciendo en al menos un 30% las inasistencias mediante recordatorios automáticos en los 3 primeros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Digitalizar la información clínica, logrando que el 85% de los pacientes cuenten con ficha clínica registrada en el sistema en los primeros 4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Mejorar el seguimiento terapéutico, registrando al menos el 95% de las sesiones realizadas por cada paciente en los primeros 10 meses.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Optimizar la gestión de horarios, reduciendo en un 40% el tiempo necesario para agendar una cita en 8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Facilitar el acceso a información clínica: que el 80% de los kinesiólogos consulten historiales en menos de 10 segundos. en los primeros 6 meses.</a:t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195" name="Google Shape;195;p8"/>
          <p:cNvCxnSpPr/>
          <p:nvPr/>
        </p:nvCxnSpPr>
        <p:spPr>
          <a:xfrm>
            <a:off x="1109100" y="1882950"/>
            <a:ext cx="2893800" cy="1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cxnSp>
        <p:nvCxnSpPr>
          <p:cNvPr id="196" name="Google Shape;196;p8"/>
          <p:cNvCxnSpPr/>
          <p:nvPr/>
        </p:nvCxnSpPr>
        <p:spPr>
          <a:xfrm>
            <a:off x="4901500" y="1851338"/>
            <a:ext cx="2893800" cy="1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395ccb22_0_9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Alcances y limitaciones del proyecto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202" name="Google Shape;202;g3ec395ccb22_0_9"/>
          <p:cNvGraphicFramePr/>
          <p:nvPr/>
        </p:nvGraphicFramePr>
        <p:xfrm>
          <a:off x="952500" y="148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{9A568704-632B-4B40-9A99-4C491B55DDF0}</a:tableStyleId>
              </a:tblPr>
              <a:tblGrid>
                <a:gridCol w="3619500"/>
                <a:gridCol w="3619500"/>
              </a:tblGrid>
              <a:tr h="3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✅  ALCANCES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⚠️  LIMITACIONES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107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 web para gestión administrativa y clínica del centro.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Aplicación móvil para el seguimiento terapéutico del paciente.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 REST centralizada que sincroniza ambas plataformas en tiempo real.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Ficha Clínica Electrónica con historial.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Enfocado en centros de kinesiología privados pequeños y medianos.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incluye integración con sistemas de salud externos ni ERP.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soporte para múltiples sedes; enfocado en un centro a la vez.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contempla módulo de facturación ni pagos en línea en esta versión.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 sistema no evalúa por sí solo a un paciente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de trabajo para el desarrollo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08" name="Google Shape;208;p2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1245649" y="1601275"/>
            <a:ext cx="6327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 proyecto fue desarrollado utilizando la metodología ágil Scrum, organizando el trabajo en 5 sprints de 2 semanas de duración cada uno. Durante cada sprint se implementaron y probaron funcionalidades específicas definidas a partir de historias de usuario priorizadas en el Product Backlog.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lo largo del desarrollo se realizaron reuniones periódicas de seguimiento para coordinar las actividades del equipo, monitorear el avance del proyecto e identificar posibles impedimentos. Al finalizar cada sprint, se llevaron a cabo instancias de revisión y retrospectiva para evaluar los resultados obtenidos y detectar oportunidades de mejora, permitiendo una entrega incremental de valor y una adaptación continua a los requerimientos del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395ccb22_0_50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15" name="Google Shape;215;g3ec395ccb22_0_50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16" name="Google Shape;216;g3ec395ccb22_0_5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375" y="1179575"/>
            <a:ext cx="6231874" cy="34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c395ccb22_0_506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22" name="Google Shape;222;g3ec395ccb22_0_50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23" name="Google Shape;223;g3ec395ccb22_0_5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025" y="1201900"/>
            <a:ext cx="60483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395ccb22_0_514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29" name="Google Shape;229;g3ec395ccb22_0_51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30" name="Google Shape;230;g3ec395ccb22_0_5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300" y="1201875"/>
            <a:ext cx="694372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c395ccb22_0_5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36" name="Google Shape;236;g3ec395ccb22_0_52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37" name="Google Shape;237;g3ec395ccb22_0_5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6425"/>
            <a:ext cx="8839199" cy="26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395ccb22_0_89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43" name="Google Shape;243;g3ec395ccb22_0_89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44" name="Google Shape;244;g3ec395ccb22_0_8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9275"/>
            <a:ext cx="8839201" cy="3283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395ccb22_0_67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50" name="Google Shape;250;g3ec395ccb22_0_67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sp>
        <p:nvSpPr>
          <p:cNvPr id="251" name="Google Shape;251;g3ec395ccb22_0_677"/>
          <p:cNvSpPr txBox="1"/>
          <p:nvPr/>
        </p:nvSpPr>
        <p:spPr>
          <a:xfrm>
            <a:off x="938500" y="886000"/>
            <a:ext cx="64467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Diagrama de Contexto (C4 Nivel 1)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g3ec395ccb22_0_677" title="ni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200" y="1297725"/>
            <a:ext cx="3724500" cy="37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c662c42dc_0_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58" name="Google Shape;258;g3ec662c42dc_0_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sp>
        <p:nvSpPr>
          <p:cNvPr id="259" name="Google Shape;259;g3ec662c42dc_0_1"/>
          <p:cNvSpPr txBox="1"/>
          <p:nvPr/>
        </p:nvSpPr>
        <p:spPr>
          <a:xfrm>
            <a:off x="938500" y="846350"/>
            <a:ext cx="62982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Diagrama de Contenedores (C4 Nivel 2)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0" name="Google Shape;260;g3ec662c42dc_0_1" title="Diagrama sin título-C4 - Nivel 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200" y="1258875"/>
            <a:ext cx="3265000" cy="38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c662c42dc_0_1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66" name="Google Shape;266;g3ec662c42dc_0_1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sp>
        <p:nvSpPr>
          <p:cNvPr id="267" name="Google Shape;267;g3ec662c42dc_0_13"/>
          <p:cNvSpPr txBox="1"/>
          <p:nvPr/>
        </p:nvSpPr>
        <p:spPr>
          <a:xfrm>
            <a:off x="938500" y="866175"/>
            <a:ext cx="64965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Diagrama de Componentes Web (C4 Nivel 3)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g3ec662c42dc_0_13" title="Diagrama sin título-C4 - Nivel 3 - Web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200" y="1293525"/>
            <a:ext cx="3487324" cy="378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c662c42dc_2_9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74" name="Google Shape;274;g3ec662c42dc_2_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sp>
        <p:nvSpPr>
          <p:cNvPr id="275" name="Google Shape;275;g3ec662c42dc_2_9"/>
          <p:cNvSpPr txBox="1"/>
          <p:nvPr/>
        </p:nvSpPr>
        <p:spPr>
          <a:xfrm>
            <a:off x="938500" y="866175"/>
            <a:ext cx="64965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Diagrama de Componentes Movil (C4 Nivel 3)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6" name="Google Shape;276;g3ec662c42dc_2_9" title="Diagrama sin título-C4 - Nivel 3 - Movi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500" y="1284000"/>
            <a:ext cx="4702200" cy="375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c395ccb22_0_68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82" name="Google Shape;282;g3ec395ccb22_0_68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83" name="Google Shape;283;g3ec395ccb22_0_685"/>
          <p:cNvPicPr preferRelativeResize="0"/>
          <p:nvPr/>
        </p:nvPicPr>
        <p:blipFill rotWithShape="1">
          <a:blip r:embed="rId3">
            <a:alphaModFix/>
          </a:blip>
          <a:srcRect b="0" l="34512" r="0" t="0"/>
          <a:stretch/>
        </p:blipFill>
        <p:spPr>
          <a:xfrm>
            <a:off x="1340014" y="1297225"/>
            <a:ext cx="6463974" cy="33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c662c42dc_0_25"/>
          <p:cNvSpPr txBox="1"/>
          <p:nvPr>
            <p:ph type="title"/>
          </p:nvPr>
        </p:nvSpPr>
        <p:spPr>
          <a:xfrm>
            <a:off x="938500" y="445025"/>
            <a:ext cx="6347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datos (Mas relevantes)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89" name="Google Shape;289;g3ec662c42dc_0_2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90" name="Google Shape;290;g3ec662c42dc_0_25" title="relacion im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88" y="1386425"/>
            <a:ext cx="8182625" cy="32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c395ccb22_0_16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Tecnologías utilizadas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96" name="Google Shape;296;g3ec395ccb22_0_16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graphicFrame>
        <p:nvGraphicFramePr>
          <p:cNvPr id="297" name="Google Shape;297;g3ec395ccb22_0_16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{9A568704-632B-4B40-9A99-4C491B55DDF0}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🖥️ Frontend Web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⚙️ Backend / API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🗄️ Base de Datos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React.js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TailwindCSS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Node.js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PostgreSQL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8" name="Google Shape;298;g3ec395ccb22_0_164"/>
          <p:cNvGraphicFramePr/>
          <p:nvPr/>
        </p:nvGraphicFramePr>
        <p:xfrm>
          <a:off x="952500" y="333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{9A568704-632B-4B40-9A99-4C491B55DDF0}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📱 App Móvil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☁️ Infraestructura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🎨 Diseño y Gestión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(Herramientas)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2921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Expo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Supabase (cloud)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Figma (UI/UX)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Jira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Microsoft Office 365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idx="2" type="body"/>
          </p:nvPr>
        </p:nvSpPr>
        <p:spPr>
          <a:xfrm>
            <a:off x="509375" y="1256325"/>
            <a:ext cx="39135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Se entregó un MVP funcional multiplataforma (web administrativa + app móvil) que cubre el flujo completo: agenda → ficha → plan de ejercicios → seguimiento.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Se implementó control de acceso por 3 roles con seguridad RLS en las 9 tablas.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p25"/>
          <p:cNvSpPr txBox="1"/>
          <p:nvPr>
            <p:ph type="title"/>
          </p:nvPr>
        </p:nvSpPr>
        <p:spPr>
          <a:xfrm>
            <a:off x="888950" y="314925"/>
            <a:ext cx="72180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obtenidos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305" name="Google Shape;305;p25"/>
          <p:cNvCxnSpPr/>
          <p:nvPr/>
        </p:nvCxnSpPr>
        <p:spPr>
          <a:xfrm>
            <a:off x="996475" y="3149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306" name="Google Shape;306;p25"/>
          <p:cNvSpPr txBox="1"/>
          <p:nvPr/>
        </p:nvSpPr>
        <p:spPr>
          <a:xfrm>
            <a:off x="4534700" y="1256325"/>
            <a:ext cx="35724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habilitó una biblioteca de ejercicios con video que el paciente consume desde la app móvil, mejorando la adherencia.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logró el registro de cumplimiento y nivel de dolor del paciente desde el móvil.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Funciones de valor agregado: exportación de ficha a PDF y dashboard con métricas/alertas.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c395ccb22_0_69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Obstáculos presentados durante el desarrollo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2" name="Google Shape;312;g3ec395ccb22_0_692"/>
          <p:cNvSpPr txBox="1"/>
          <p:nvPr>
            <p:ph idx="1" type="body"/>
          </p:nvPr>
        </p:nvSpPr>
        <p:spPr>
          <a:xfrm>
            <a:off x="800375" y="1464650"/>
            <a:ext cx="73989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Durante el desarrollo del proyecto se presentaron algunos desafíos relacionados con la integración de módulos, validación de datos y sincronización de información entre los distintos componentes del sistema. También surgieron conflictos de versiones en el repositorio compartido y ajustes en algunos requerimientos, lo que requirió organizar tareas y prioridades dentro de los sprints.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Estos obstáculos fueron abordados mediante reuniones de seguimiento, pruebas de integración y una mejor coordinación entre los integrantes del equipo.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t/>
            </a:r>
            <a:endParaRPr sz="1200"/>
          </a:p>
        </p:txBody>
      </p:sp>
      <p:cxnSp>
        <p:nvCxnSpPr>
          <p:cNvPr id="313" name="Google Shape;313;g3ec395ccb22_0_69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DEMOSTRACIÓN DEL RESULTADO DEL PROYECTO</a:t>
            </a:r>
            <a:endParaRPr/>
          </a:p>
        </p:txBody>
      </p:sp>
      <p:cxnSp>
        <p:nvCxnSpPr>
          <p:cNvPr id="319" name="Google Shape;319;p30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dce1fb492_0_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edce1fb492_0_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g3edce1fb492_0_0" title="EDT_RehabContr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325" y="454175"/>
            <a:ext cx="6624550" cy="46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dce1fb492_0_6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dce1fb492_0_6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g3edce1fb492_0_6" title="EDT_RehabControl_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225" y="445025"/>
            <a:ext cx="6751550" cy="461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c395ccb22_0_700"/>
          <p:cNvSpPr txBox="1"/>
          <p:nvPr>
            <p:ph type="title"/>
          </p:nvPr>
        </p:nvSpPr>
        <p:spPr>
          <a:xfrm>
            <a:off x="924877" y="760375"/>
            <a:ext cx="4006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 DE LA COMISIÓN</a:t>
            </a:r>
            <a:endParaRPr/>
          </a:p>
        </p:txBody>
      </p:sp>
      <p:sp>
        <p:nvSpPr>
          <p:cNvPr id="339" name="Google Shape;339;g3ec395ccb22_0_700"/>
          <p:cNvSpPr txBox="1"/>
          <p:nvPr>
            <p:ph idx="1" type="subTitle"/>
          </p:nvPr>
        </p:nvSpPr>
        <p:spPr>
          <a:xfrm>
            <a:off x="924875" y="1684275"/>
            <a:ext cx="53001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Con esto finalizamos nuestra presentación. Agradecemos su atención e interés durante esta exposición. A continuación, daremos paso a la fase de preguntas, donde responderemos cualquier duda o consulta relacionada con el proyecto. Muchas gracias.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340" name="Google Shape;340;g3ec395ccb22_0_700"/>
          <p:cNvCxnSpPr/>
          <p:nvPr/>
        </p:nvCxnSpPr>
        <p:spPr>
          <a:xfrm>
            <a:off x="1013400" y="14887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341" name="Google Shape;341;g3ec395ccb22_0_700" title="1-b8c9f70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75" y="3181600"/>
            <a:ext cx="3131899" cy="17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