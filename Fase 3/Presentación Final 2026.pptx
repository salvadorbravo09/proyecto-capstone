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Montserrat"/>
      <p:regular r:id="rId33"/>
      <p:bold r:id="rId34"/>
      <p:italic r:id="rId35"/>
      <p:boldItalic r:id="rId36"/>
    </p:embeddedFont>
    <p:embeddedFont>
      <p:font typeface="Montserrat Medium"/>
      <p:regular r:id="rId37"/>
      <p:bold r:id="rId38"/>
      <p:italic r:id="rId39"/>
      <p:boldItalic r:id="rId40"/>
    </p:embeddedFont>
    <p:embeddedFont>
      <p:font typeface="Montserrat ExtraBold"/>
      <p:bold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gu+hoRxQlveUMksJx3ifm4R0tN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78477D-3306-47C3-B9AD-5986BDE109DC}">
  <a:tblStyle styleId="{9878477D-3306-47C3-B9AD-5986BDE109D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Medium-boldItalic.fntdata"/><Relationship Id="rId20" Type="http://schemas.openxmlformats.org/officeDocument/2006/relationships/slide" Target="slides/slide15.xml"/><Relationship Id="rId42" Type="http://schemas.openxmlformats.org/officeDocument/2006/relationships/font" Target="fonts/MontserratExtraBold-boldItalic.fntdata"/><Relationship Id="rId41" Type="http://schemas.openxmlformats.org/officeDocument/2006/relationships/font" Target="fonts/MontserratExtraBold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-bold.fntdata"/><Relationship Id="rId15" Type="http://schemas.openxmlformats.org/officeDocument/2006/relationships/slide" Target="slides/slide10.xml"/><Relationship Id="rId37" Type="http://schemas.openxmlformats.org/officeDocument/2006/relationships/font" Target="fonts/MontserratMedium-regular.fntdata"/><Relationship Id="rId14" Type="http://schemas.openxmlformats.org/officeDocument/2006/relationships/slide" Target="slides/slide9.xml"/><Relationship Id="rId36" Type="http://schemas.openxmlformats.org/officeDocument/2006/relationships/font" Target="fonts/Montserrat-boldItalic.fntdata"/><Relationship Id="rId17" Type="http://schemas.openxmlformats.org/officeDocument/2006/relationships/slide" Target="slides/slide12.xml"/><Relationship Id="rId39" Type="http://schemas.openxmlformats.org/officeDocument/2006/relationships/font" Target="fonts/MontserratMedium-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Medium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c395ccb22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ec395ccb22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c395ccb2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ec395ccb2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0e35270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f0e35270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c395ccb22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ec395ccb22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c395ccb22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ec395ccb22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c395ccb22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ec395ccb22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c395ccb22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ec395ccb22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c395ccb22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ec395ccb22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1efebd5f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f1efebd5f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c395ccb22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ec395ccb22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c662c42d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ec662c42d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c662c42d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ec662c42d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c662c42dc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ec662c42dc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1efebd5f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f1efebd5f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c395ccb22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ec395ccb22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c662c42d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ec662c42d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c395ccb22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ec395ccb22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c395ccb22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ec395ccb22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dce1fb4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edce1fb4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dce1fb49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edce1fb49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c395ccb22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3ec395ccb22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1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" name="Google Shape;10;p51"/>
          <p:cNvSpPr txBox="1"/>
          <p:nvPr>
            <p:ph idx="1" type="subTitle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2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52"/>
          <p:cNvSpPr txBox="1"/>
          <p:nvPr>
            <p:ph idx="1" type="body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1625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indent="-301625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indent="-301625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indent="-301625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indent="-301625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indent="-301625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indent="-301625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indent="-301625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indent="-301625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3"/>
          <p:cNvSpPr txBox="1"/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53"/>
          <p:cNvSpPr txBox="1"/>
          <p:nvPr>
            <p:ph idx="1" type="subTitle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53"/>
          <p:cNvSpPr txBox="1"/>
          <p:nvPr>
            <p:ph idx="2" type="title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53"/>
          <p:cNvSpPr txBox="1"/>
          <p:nvPr>
            <p:ph idx="3" type="subTitle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53"/>
          <p:cNvSpPr txBox="1"/>
          <p:nvPr>
            <p:ph idx="4" type="title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53"/>
          <p:cNvSpPr txBox="1"/>
          <p:nvPr>
            <p:ph idx="5" type="subTitle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53"/>
          <p:cNvSpPr txBox="1"/>
          <p:nvPr>
            <p:ph idx="6" type="title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" name="Google Shape;22;p53"/>
          <p:cNvSpPr txBox="1"/>
          <p:nvPr>
            <p:ph idx="7" type="title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" name="Google Shape;23;p53"/>
          <p:cNvSpPr txBox="1"/>
          <p:nvPr>
            <p:ph idx="8" type="title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4"/>
          <p:cNvSpPr txBox="1"/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76A5AF">
                <a:alpha val="87843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54"/>
          <p:cNvSpPr txBox="1"/>
          <p:nvPr>
            <p:ph idx="1" type="subTitle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5"/>
          <p:cNvSpPr txBox="1"/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5"/>
          <p:cNvSpPr txBox="1"/>
          <p:nvPr>
            <p:ph idx="1" type="subTitle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6"/>
          <p:cNvSpPr txBox="1"/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56"/>
          <p:cNvSpPr txBox="1"/>
          <p:nvPr>
            <p:ph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6360000" dist="28575">
              <a:schemeClr val="accent1">
                <a:alpha val="50196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56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57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8"/>
          <p:cNvSpPr txBox="1"/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58"/>
          <p:cNvSpPr txBox="1"/>
          <p:nvPr>
            <p:ph idx="1" type="subTitle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58"/>
          <p:cNvSpPr txBox="1"/>
          <p:nvPr>
            <p:ph idx="2" type="title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58"/>
          <p:cNvSpPr txBox="1"/>
          <p:nvPr>
            <p:ph idx="3" type="subTitle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58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9"/>
          <p:cNvSpPr txBox="1"/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59"/>
          <p:cNvSpPr txBox="1"/>
          <p:nvPr>
            <p:ph idx="1" type="subTitle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59"/>
          <p:cNvSpPr txBox="1"/>
          <p:nvPr>
            <p:ph idx="2" type="title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59"/>
          <p:cNvSpPr txBox="1"/>
          <p:nvPr>
            <p:ph idx="3" type="subTitle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59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59"/>
          <p:cNvSpPr txBox="1"/>
          <p:nvPr>
            <p:ph idx="5" type="title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59"/>
          <p:cNvSpPr txBox="1"/>
          <p:nvPr>
            <p:ph idx="6" type="subTitle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0"/>
          <p:cNvSpPr txBox="1"/>
          <p:nvPr>
            <p:ph type="title"/>
          </p:nvPr>
        </p:nvSpPr>
        <p:spPr>
          <a:xfrm>
            <a:off x="929477" y="436183"/>
            <a:ext cx="2746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53" name="Google Shape;5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3278924" y="414050"/>
            <a:ext cx="7626551" cy="28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5400000">
            <a:off x="4822414" y="-351911"/>
            <a:ext cx="9309797" cy="35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1"/>
          <p:cNvSpPr txBox="1"/>
          <p:nvPr>
            <p:ph type="title"/>
          </p:nvPr>
        </p:nvSpPr>
        <p:spPr>
          <a:xfrm>
            <a:off x="5337175" y="1297125"/>
            <a:ext cx="2837400" cy="12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61"/>
          <p:cNvSpPr txBox="1"/>
          <p:nvPr>
            <p:ph idx="1" type="body"/>
          </p:nvPr>
        </p:nvSpPr>
        <p:spPr>
          <a:xfrm>
            <a:off x="5337175" y="2593875"/>
            <a:ext cx="2837400" cy="12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2"/>
          <p:cNvSpPr txBox="1"/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62"/>
          <p:cNvSpPr txBox="1"/>
          <p:nvPr>
            <p:ph idx="1" type="subTitle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3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4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5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APTION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6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7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8"/>
          <p:cNvSpPr txBox="1"/>
          <p:nvPr>
            <p:ph hasCustomPrompt="1" type="title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68"/>
          <p:cNvSpPr txBox="1"/>
          <p:nvPr>
            <p:ph idx="1" type="body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indent="-3429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indent="-3429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indent="-3429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indent="-3429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indent="-3429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indent="-3429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indent="-3429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9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69"/>
          <p:cNvSpPr txBox="1"/>
          <p:nvPr>
            <p:ph idx="1" type="body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69"/>
          <p:cNvSpPr txBox="1"/>
          <p:nvPr>
            <p:ph idx="2" type="body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69"/>
          <p:cNvSpPr txBox="1"/>
          <p:nvPr>
            <p:ph idx="3" type="title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69"/>
          <p:cNvSpPr txBox="1"/>
          <p:nvPr>
            <p:ph idx="4" type="title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0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p70"/>
          <p:cNvSpPr txBox="1"/>
          <p:nvPr>
            <p:ph idx="2" type="title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70"/>
          <p:cNvSpPr txBox="1"/>
          <p:nvPr>
            <p:ph idx="1" type="subTitle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70"/>
          <p:cNvSpPr txBox="1"/>
          <p:nvPr>
            <p:ph idx="3" type="title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70"/>
          <p:cNvSpPr txBox="1"/>
          <p:nvPr>
            <p:ph idx="4" type="subTitle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70"/>
          <p:cNvSpPr txBox="1"/>
          <p:nvPr>
            <p:ph idx="5" type="title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70"/>
          <p:cNvSpPr txBox="1"/>
          <p:nvPr>
            <p:ph idx="6" type="subTitle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70"/>
          <p:cNvSpPr txBox="1"/>
          <p:nvPr>
            <p:ph idx="7" type="title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0"/>
          <p:cNvSpPr txBox="1"/>
          <p:nvPr>
            <p:ph idx="8" type="subTitle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1"/>
          <p:cNvSpPr txBox="1"/>
          <p:nvPr>
            <p:ph type="title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1"/>
          <p:cNvSpPr txBox="1"/>
          <p:nvPr>
            <p:ph idx="1" type="subTitle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3" name="Google Shape;93;p71"/>
          <p:cNvSpPr txBox="1"/>
          <p:nvPr>
            <p:ph idx="2" type="title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1"/>
          <p:cNvSpPr txBox="1"/>
          <p:nvPr>
            <p:ph idx="3" type="subTitle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5" name="Google Shape;95;p71"/>
          <p:cNvSpPr txBox="1"/>
          <p:nvPr>
            <p:ph idx="4" type="title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71"/>
          <p:cNvSpPr txBox="1"/>
          <p:nvPr>
            <p:ph idx="5" type="subTitle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3"/>
          <p:cNvSpPr txBox="1"/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73"/>
          <p:cNvSpPr txBox="1"/>
          <p:nvPr>
            <p:ph idx="1" type="subTitle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73"/>
          <p:cNvSpPr txBox="1"/>
          <p:nvPr>
            <p:ph idx="2" type="title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73"/>
          <p:cNvSpPr txBox="1"/>
          <p:nvPr>
            <p:ph idx="3" type="subTitle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73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73"/>
          <p:cNvSpPr txBox="1"/>
          <p:nvPr>
            <p:ph idx="5" type="title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" name="Google Shape;106;p73"/>
          <p:cNvSpPr txBox="1"/>
          <p:nvPr>
            <p:ph idx="6" type="subTitle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73"/>
          <p:cNvSpPr txBox="1"/>
          <p:nvPr>
            <p:ph idx="7" type="title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73"/>
          <p:cNvSpPr txBox="1"/>
          <p:nvPr>
            <p:ph idx="8" type="subTitle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73"/>
          <p:cNvSpPr txBox="1"/>
          <p:nvPr>
            <p:ph idx="9" type="title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73"/>
          <p:cNvSpPr txBox="1"/>
          <p:nvPr>
            <p:ph idx="13" type="subTitle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73"/>
          <p:cNvSpPr txBox="1"/>
          <p:nvPr>
            <p:ph idx="14" type="title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73"/>
          <p:cNvSpPr txBox="1"/>
          <p:nvPr>
            <p:ph idx="15" type="subTitle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4"/>
          <p:cNvSpPr txBox="1"/>
          <p:nvPr>
            <p:ph idx="1" type="subTitle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5" name="Google Shape;115;p74"/>
          <p:cNvSpPr txBox="1"/>
          <p:nvPr>
            <p:ph idx="2" type="body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74"/>
          <p:cNvSpPr txBox="1"/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5"/>
          <p:cNvSpPr txBox="1"/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75"/>
          <p:cNvSpPr txBox="1"/>
          <p:nvPr>
            <p:ph idx="2" type="title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75"/>
          <p:cNvSpPr txBox="1"/>
          <p:nvPr>
            <p:ph idx="1" type="subTitle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75"/>
          <p:cNvSpPr txBox="1"/>
          <p:nvPr>
            <p:ph idx="3" type="title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75"/>
          <p:cNvSpPr txBox="1"/>
          <p:nvPr>
            <p:ph idx="4" type="subTitle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75"/>
          <p:cNvSpPr txBox="1"/>
          <p:nvPr>
            <p:ph idx="5" type="title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75"/>
          <p:cNvSpPr txBox="1"/>
          <p:nvPr>
            <p:ph idx="6" type="subTitle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75"/>
          <p:cNvSpPr txBox="1"/>
          <p:nvPr>
            <p:ph idx="7" type="title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75"/>
          <p:cNvSpPr txBox="1"/>
          <p:nvPr>
            <p:ph idx="8" type="subTitle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6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7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7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77"/>
          <p:cNvSpPr txBox="1"/>
          <p:nvPr>
            <p:ph idx="1" type="subTitle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APTION_ONL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8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78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9"/>
          <p:cNvSpPr txBox="1"/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79"/>
          <p:cNvSpPr txBox="1"/>
          <p:nvPr>
            <p:ph idx="1" type="subTitle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0"/>
          <p:cNvSpPr txBox="1"/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80"/>
          <p:cNvSpPr txBox="1"/>
          <p:nvPr>
            <p:ph idx="1" type="subTitle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2" name="Google Shape;142;p80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b="0" i="0" lang="en" sz="1000" u="none" cap="none" strike="noStrike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b="0" i="0" lang="en" sz="1000" u="none" cap="none" strike="noStrike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0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b="0" i="0" lang="en" sz="1000" u="none" cap="none" strike="noStrike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000" u="none" cap="none" strike="noStrik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b="0" i="0" sz="1000" u="none" cap="none" strike="noStrike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1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" name="Google Shape;145;p81"/>
          <p:cNvSpPr txBox="1"/>
          <p:nvPr>
            <p:ph idx="1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2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8" name="Google Shape;148;p82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5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1" name="Google Shape;151;p85"/>
          <p:cNvSpPr txBox="1"/>
          <p:nvPr>
            <p:ph idx="1" type="body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" name="Google Shape;152;p85"/>
          <p:cNvSpPr txBox="1"/>
          <p:nvPr>
            <p:ph idx="2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b="0" i="0" sz="28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react.js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8760000" dist="19050">
              <a:srgbClr val="76A5AF">
                <a:alpha val="50196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RehabControl</a:t>
            </a:r>
            <a:endParaRPr/>
          </a:p>
        </p:txBody>
      </p:sp>
      <p:cxnSp>
        <p:nvCxnSpPr>
          <p:cNvPr id="159" name="Google Shape;159;p1"/>
          <p:cNvCxnSpPr/>
          <p:nvPr/>
        </p:nvCxnSpPr>
        <p:spPr>
          <a:xfrm>
            <a:off x="3190500" y="256517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6"/>
              </a:srgbClr>
            </a:outerShdw>
          </a:effectLst>
        </p:spPr>
      </p:cxnSp>
      <p:sp>
        <p:nvSpPr>
          <p:cNvPr id="160" name="Google Shape;160;p1"/>
          <p:cNvSpPr txBox="1"/>
          <p:nvPr/>
        </p:nvSpPr>
        <p:spPr>
          <a:xfrm>
            <a:off x="2319900" y="2718275"/>
            <a:ext cx="4648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Integrantes</a:t>
            </a:r>
            <a:r>
              <a:rPr lang="en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Salvador Bravo, Nicolás Lizama, Diego Mattas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Fecha</a:t>
            </a:r>
            <a:r>
              <a:rPr lang="en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06-07-2026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Asignatura</a:t>
            </a:r>
            <a:r>
              <a:rPr lang="en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Capstone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Sección</a:t>
            </a:r>
            <a:r>
              <a:rPr lang="en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001D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Profesores</a:t>
            </a:r>
            <a:r>
              <a:rPr lang="en">
                <a:solidFill>
                  <a:srgbClr val="FFFF00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Juan Pablo Mellado, Mabel Herrera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1" name="Google Shape;16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0525"/>
            <a:ext cx="1791876" cy="44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"/>
          <p:cNvSpPr txBox="1"/>
          <p:nvPr>
            <p:ph idx="6" type="title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67" name="Google Shape;167;p3"/>
          <p:cNvSpPr txBox="1"/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Salvador</a:t>
            </a:r>
            <a:r>
              <a:rPr lang="en"/>
              <a:t> Bravo</a:t>
            </a:r>
            <a:endParaRPr/>
          </a:p>
        </p:txBody>
      </p:sp>
      <p:sp>
        <p:nvSpPr>
          <p:cNvPr id="168" name="Google Shape;168;p3"/>
          <p:cNvSpPr txBox="1"/>
          <p:nvPr>
            <p:ph idx="2" type="title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Diego Mattas</a:t>
            </a:r>
            <a:endParaRPr/>
          </a:p>
        </p:txBody>
      </p:sp>
      <p:sp>
        <p:nvSpPr>
          <p:cNvPr id="169" name="Google Shape;169;p3"/>
          <p:cNvSpPr txBox="1"/>
          <p:nvPr>
            <p:ph idx="4" type="title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Nicolás Lizama</a:t>
            </a:r>
            <a:endParaRPr/>
          </a:p>
        </p:txBody>
      </p:sp>
      <p:sp>
        <p:nvSpPr>
          <p:cNvPr id="170" name="Google Shape;170;p3"/>
          <p:cNvSpPr txBox="1"/>
          <p:nvPr>
            <p:ph idx="7" type="title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71" name="Google Shape;171;p3"/>
          <p:cNvSpPr txBox="1"/>
          <p:nvPr>
            <p:ph idx="8" type="title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172" name="Google Shape;172;p3"/>
          <p:cNvCxnSpPr/>
          <p:nvPr/>
        </p:nvCxnSpPr>
        <p:spPr>
          <a:xfrm>
            <a:off x="1883350" y="2546160"/>
            <a:ext cx="397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6"/>
              </a:srgbClr>
            </a:outerShdw>
          </a:effectLst>
        </p:spPr>
      </p:cxnSp>
      <p:cxnSp>
        <p:nvCxnSpPr>
          <p:cNvPr id="173" name="Google Shape;173;p3"/>
          <p:cNvCxnSpPr/>
          <p:nvPr/>
        </p:nvCxnSpPr>
        <p:spPr>
          <a:xfrm>
            <a:off x="4373400" y="2546160"/>
            <a:ext cx="397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6"/>
              </a:srgbClr>
            </a:outerShdw>
          </a:effectLst>
        </p:spPr>
      </p:cxnSp>
      <p:cxnSp>
        <p:nvCxnSpPr>
          <p:cNvPr id="174" name="Google Shape;174;p3"/>
          <p:cNvCxnSpPr/>
          <p:nvPr/>
        </p:nvCxnSpPr>
        <p:spPr>
          <a:xfrm>
            <a:off x="6863450" y="2546160"/>
            <a:ext cx="397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6"/>
              </a:srgbClr>
            </a:outerShdw>
          </a:effectLst>
        </p:spPr>
      </p:cxnSp>
      <p:sp>
        <p:nvSpPr>
          <p:cNvPr id="175" name="Google Shape;175;p3"/>
          <p:cNvSpPr txBox="1"/>
          <p:nvPr>
            <p:ph idx="4" type="title"/>
          </p:nvPr>
        </p:nvSpPr>
        <p:spPr>
          <a:xfrm>
            <a:off x="2607925" y="993975"/>
            <a:ext cx="3670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INTEGRANTES DEL PROYECTO</a:t>
            </a:r>
            <a:endParaRPr sz="2800"/>
          </a:p>
        </p:txBody>
      </p:sp>
      <p:sp>
        <p:nvSpPr>
          <p:cNvPr id="176" name="Google Shape;176;p3"/>
          <p:cNvSpPr txBox="1"/>
          <p:nvPr>
            <p:ph idx="1" type="subTitle"/>
          </p:nvPr>
        </p:nvSpPr>
        <p:spPr>
          <a:xfrm>
            <a:off x="946288" y="3163975"/>
            <a:ext cx="23901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Equipo de Desarrollo: Desarrollar la aplicación móvil, integrar notificaciones y realizar pruebas de calidad.</a:t>
            </a:r>
            <a:endParaRPr/>
          </a:p>
        </p:txBody>
      </p:sp>
      <p:sp>
        <p:nvSpPr>
          <p:cNvPr id="177" name="Google Shape;177;p3"/>
          <p:cNvSpPr txBox="1"/>
          <p:nvPr>
            <p:ph idx="1" type="subTitle"/>
          </p:nvPr>
        </p:nvSpPr>
        <p:spPr>
          <a:xfrm>
            <a:off x="3376938" y="3163975"/>
            <a:ext cx="23901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Product Owner: Priorizar requisitos, gestionar el Product Backlog y validar el valor del producto.</a:t>
            </a:r>
            <a:endParaRPr/>
          </a:p>
        </p:txBody>
      </p:sp>
      <p:sp>
        <p:nvSpPr>
          <p:cNvPr id="178" name="Google Shape;178;p3"/>
          <p:cNvSpPr txBox="1"/>
          <p:nvPr>
            <p:ph idx="1" type="subTitle"/>
          </p:nvPr>
        </p:nvSpPr>
        <p:spPr>
          <a:xfrm>
            <a:off x="5959163" y="3163975"/>
            <a:ext cx="23901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Scrum Master: Facilitar Scrum, coordinar al equipo y eliminar impedimentos.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c395ccb22_0_339"/>
          <p:cNvSpPr txBox="1"/>
          <p:nvPr>
            <p:ph type="title"/>
          </p:nvPr>
        </p:nvSpPr>
        <p:spPr>
          <a:xfrm>
            <a:off x="651725" y="468625"/>
            <a:ext cx="5735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Descripción del Proyecto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84" name="Google Shape;184;g3ec395ccb22_0_339"/>
          <p:cNvSpPr txBox="1"/>
          <p:nvPr>
            <p:ph idx="1" type="body"/>
          </p:nvPr>
        </p:nvSpPr>
        <p:spPr>
          <a:xfrm>
            <a:off x="800375" y="1464650"/>
            <a:ext cx="7398900" cy="1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Problema o Dolor</a:t>
            </a:r>
            <a:endParaRPr sz="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Muchos centros de kinesiología aún gestionan sus procesos clínicos mediante registros manuales o herramientas poco integradas, lo que provoca dificultades en la organización de la información, el seguimiento de los pacientes y la continuidad de los tratamientos. Esta falta de digitalización genera ineficiencias operativas, errores en la gestión de datos y una comunicación limitada entre los profesionales de la salud y los pacientes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Propuesta de Solución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Para abordar esta problemática, se propone el desarrollo de una solución tecnológica orientada a la rehabilitación física, compuesta por aplicaciones sincronizadas en tiempo real. La plataforma permitirá gestionar pacientes, tratamientos y citas de manera centralizada, optimizando los procesos clínicos, mejorando el seguimiento de la evolución de los pacientes y fortaleciendo la comunicación entre kinesiólogos y usuarios.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50"/>
              <a:buNone/>
            </a:pPr>
            <a:r>
              <a:t/>
            </a:r>
            <a:endParaRPr sz="1200"/>
          </a:p>
        </p:txBody>
      </p:sp>
      <p:cxnSp>
        <p:nvCxnSpPr>
          <p:cNvPr id="185" name="Google Shape;185;g3ec395ccb22_0_339"/>
          <p:cNvCxnSpPr/>
          <p:nvPr/>
        </p:nvCxnSpPr>
        <p:spPr>
          <a:xfrm>
            <a:off x="784900" y="400375"/>
            <a:ext cx="3004200" cy="1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/>
          <p:nvPr>
            <p:ph idx="4" type="title"/>
          </p:nvPr>
        </p:nvSpPr>
        <p:spPr>
          <a:xfrm>
            <a:off x="879050" y="353313"/>
            <a:ext cx="46293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2"/>
                </a:solidFill>
              </a:rPr>
              <a:t>Objetivos</a:t>
            </a:r>
            <a:endParaRPr sz="27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cxnSp>
        <p:nvCxnSpPr>
          <p:cNvPr id="191" name="Google Shape;191;p8"/>
          <p:cNvCxnSpPr/>
          <p:nvPr/>
        </p:nvCxnSpPr>
        <p:spPr>
          <a:xfrm>
            <a:off x="938500" y="314897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6"/>
              </a:srgbClr>
            </a:outerShdw>
          </a:effectLst>
        </p:spPr>
      </p:cxnSp>
      <p:sp>
        <p:nvSpPr>
          <p:cNvPr id="192" name="Google Shape;192;p8"/>
          <p:cNvSpPr txBox="1"/>
          <p:nvPr>
            <p:ph type="title"/>
          </p:nvPr>
        </p:nvSpPr>
        <p:spPr>
          <a:xfrm>
            <a:off x="1026204" y="1386425"/>
            <a:ext cx="31389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</a:rPr>
              <a:t>Objetivo General</a:t>
            </a:r>
            <a:endParaRPr sz="2100">
              <a:solidFill>
                <a:schemeClr val="lt2"/>
              </a:solidFill>
            </a:endParaRPr>
          </a:p>
        </p:txBody>
      </p:sp>
      <p:sp>
        <p:nvSpPr>
          <p:cNvPr id="193" name="Google Shape;193;p8"/>
          <p:cNvSpPr txBox="1"/>
          <p:nvPr>
            <p:ph idx="1" type="subTitle"/>
          </p:nvPr>
        </p:nvSpPr>
        <p:spPr>
          <a:xfrm>
            <a:off x="776300" y="2098275"/>
            <a:ext cx="33888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Desarrollar un ecosistema informático (aplicación web + app móvil) para centralizar la gestión de citas, el registro clínico y el seguimiento de ejercicios terapéuticos en centros de kinesiología privados.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 txBox="1"/>
          <p:nvPr>
            <p:ph idx="2" type="title"/>
          </p:nvPr>
        </p:nvSpPr>
        <p:spPr>
          <a:xfrm>
            <a:off x="4513900" y="1333113"/>
            <a:ext cx="36690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</a:rPr>
              <a:t>Objetivos </a:t>
            </a:r>
            <a:r>
              <a:rPr lang="en" sz="2400">
                <a:solidFill>
                  <a:schemeClr val="lt2"/>
                </a:solidFill>
              </a:rPr>
              <a:t>Específicos</a:t>
            </a:r>
            <a:endParaRPr sz="2400">
              <a:solidFill>
                <a:schemeClr val="lt2"/>
              </a:solidFill>
            </a:endParaRPr>
          </a:p>
        </p:txBody>
      </p:sp>
      <p:sp>
        <p:nvSpPr>
          <p:cNvPr id="195" name="Google Shape;195;p8"/>
          <p:cNvSpPr txBox="1"/>
          <p:nvPr>
            <p:ph idx="3" type="subTitle"/>
          </p:nvPr>
        </p:nvSpPr>
        <p:spPr>
          <a:xfrm>
            <a:off x="4002900" y="1882975"/>
            <a:ext cx="4955700" cy="1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Optimizar la gestión de citas, reduciendo en al menos un 30% las inasistencias mediante recordatorios automáticos en los 3 primeros meses.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Digitalizar la información clínica, logrando que el 85% de los pacientes cuenten con ficha clínica registrada en el sistema en los primeros 4 meses.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Mejorar el seguimiento terapéutico, registrando al menos el 95% de las sesiones realizadas por cada paciente en los primeros 10 meses.</a:t>
            </a:r>
            <a:endParaRPr b="1"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Optimizar la gestión de horarios, reduciendo en un 40% el tiempo necesario para agendar una cita en 8 meses.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Facilitar el acceso a información clínica: que el 80% de los kinesiólogos consulten historiales en menos de 10 segundos. en los primeros 6 meses.</a:t>
            </a:r>
            <a:endParaRPr sz="12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cxnSp>
        <p:nvCxnSpPr>
          <p:cNvPr id="196" name="Google Shape;196;p8"/>
          <p:cNvCxnSpPr/>
          <p:nvPr/>
        </p:nvCxnSpPr>
        <p:spPr>
          <a:xfrm>
            <a:off x="1109100" y="1882950"/>
            <a:ext cx="2893800" cy="19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  <p:cxnSp>
        <p:nvCxnSpPr>
          <p:cNvPr id="197" name="Google Shape;197;p8"/>
          <p:cNvCxnSpPr/>
          <p:nvPr/>
        </p:nvCxnSpPr>
        <p:spPr>
          <a:xfrm>
            <a:off x="4901500" y="1851338"/>
            <a:ext cx="2893800" cy="19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c395ccb22_0_9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Alcances y limitaciones del proyecto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graphicFrame>
        <p:nvGraphicFramePr>
          <p:cNvPr id="203" name="Google Shape;203;g3ec395ccb22_0_9"/>
          <p:cNvGraphicFramePr/>
          <p:nvPr/>
        </p:nvGraphicFramePr>
        <p:xfrm>
          <a:off x="952500" y="1480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{9878477D-3306-47C3-B9AD-5986BDE109DC}</a:tableStyleId>
              </a:tblPr>
              <a:tblGrid>
                <a:gridCol w="3619500"/>
                <a:gridCol w="3619500"/>
              </a:tblGrid>
              <a:tr h="343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</a:rPr>
                        <a:t>✅  ALCANCES</a:t>
                      </a:r>
                      <a:endParaRPr b="1" sz="1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</a:rPr>
                        <a:t>⚠️  LIMITACIONES</a:t>
                      </a:r>
                      <a:endParaRPr b="1" sz="12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910700"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Plataforma web para gestión administrativa y clínica del centro.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Aplicación móvil para el seguimiento terapéutico del paciente.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API REST centralizada que sincroniza ambas plataformas en tiempo real.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Ficha Clínica Electrónica con historial.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Enfocado en centros de kinesiología privados pequeños y medianos.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 incluye integración con sistemas de salud externos ni ERP.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Sin soporte para múltiples sedes; enfocado en un centro a la vez.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 contempla módulo de facturación ni pagos en línea en esta versión.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El sistema no evalúa por sí solo a un paciente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Metodología de trabajo para el desarrollo del proyecto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cxnSp>
        <p:nvCxnSpPr>
          <p:cNvPr id="209" name="Google Shape;209;p20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6"/>
              </a:srgbClr>
            </a:outerShdw>
          </a:effectLst>
        </p:spPr>
      </p:cxnSp>
      <p:sp>
        <p:nvSpPr>
          <p:cNvPr id="210" name="Google Shape;210;p20"/>
          <p:cNvSpPr txBox="1"/>
          <p:nvPr>
            <p:ph idx="1" type="body"/>
          </p:nvPr>
        </p:nvSpPr>
        <p:spPr>
          <a:xfrm>
            <a:off x="1245649" y="1601275"/>
            <a:ext cx="6327900" cy="17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El proyecto fue desarrollado utilizando la metodología ágil Scrum, organizando el trabajo en 5 sprints de 2 semanas de duración cada uno. Durante cada sprint se implementaron y probaron funcionalidades específicas definidas a partir de historias de usuario priorizadas en el Product Backlog.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lo largo del desarrollo se realizaron reuniones periódicas de seguimiento para coordinar las actividades del equipo, monitorear el avance del proyecto e identificar posibles impedimentos. Al finalizar cada sprint, se llevaron a cabo instancias de revisión y retrospectiva para evaluar los resultados obtenidos y detectar oportunidades de mejora, permitiendo una entrega incremental de valor y una adaptación continua a los requerimientos del sistema.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0e352708b_0_0"/>
          <p:cNvSpPr txBox="1"/>
          <p:nvPr>
            <p:ph type="title"/>
          </p:nvPr>
        </p:nvSpPr>
        <p:spPr>
          <a:xfrm>
            <a:off x="2062800" y="2442050"/>
            <a:ext cx="51540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2"/>
                </a:solidFill>
              </a:rPr>
              <a:t>Cronograma</a:t>
            </a:r>
            <a:endParaRPr sz="3200"/>
          </a:p>
        </p:txBody>
      </p:sp>
      <p:cxnSp>
        <p:nvCxnSpPr>
          <p:cNvPr id="216" name="Google Shape;216;g3f0e352708b_0_0"/>
          <p:cNvCxnSpPr/>
          <p:nvPr/>
        </p:nvCxnSpPr>
        <p:spPr>
          <a:xfrm>
            <a:off x="3190500" y="3203297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c395ccb22_0_500"/>
          <p:cNvSpPr txBox="1"/>
          <p:nvPr>
            <p:ph type="title"/>
          </p:nvPr>
        </p:nvSpPr>
        <p:spPr>
          <a:xfrm>
            <a:off x="661000" y="245550"/>
            <a:ext cx="4702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Cronograma</a:t>
            </a:r>
            <a:endParaRPr/>
          </a:p>
        </p:txBody>
      </p:sp>
      <p:cxnSp>
        <p:nvCxnSpPr>
          <p:cNvPr id="222" name="Google Shape;222;g3ec395ccb22_0_500"/>
          <p:cNvCxnSpPr/>
          <p:nvPr/>
        </p:nvCxnSpPr>
        <p:spPr>
          <a:xfrm>
            <a:off x="748700" y="245547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  <p:pic>
        <p:nvPicPr>
          <p:cNvPr id="223" name="Google Shape;223;g3ec395ccb22_0_5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250" y="245550"/>
            <a:ext cx="8672099" cy="480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g3ec395ccb22_0_5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3525" y="691975"/>
            <a:ext cx="9207525" cy="445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ec395ccb22_0_5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8300"/>
            <a:ext cx="9278125" cy="459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c395ccb22_0_521"/>
          <p:cNvSpPr txBox="1"/>
          <p:nvPr>
            <p:ph type="title"/>
          </p:nvPr>
        </p:nvSpPr>
        <p:spPr>
          <a:xfrm>
            <a:off x="659525" y="219250"/>
            <a:ext cx="4702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Cronograma</a:t>
            </a:r>
            <a:endParaRPr/>
          </a:p>
        </p:txBody>
      </p:sp>
      <p:cxnSp>
        <p:nvCxnSpPr>
          <p:cNvPr id="239" name="Google Shape;239;g3ec395ccb22_0_521"/>
          <p:cNvCxnSpPr/>
          <p:nvPr/>
        </p:nvCxnSpPr>
        <p:spPr>
          <a:xfrm>
            <a:off x="560400" y="2951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  <p:pic>
        <p:nvPicPr>
          <p:cNvPr id="240" name="Google Shape;240;g3ec395ccb22_0_5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3537" y="806275"/>
            <a:ext cx="9291075" cy="353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c395ccb22_0_892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Cronograma</a:t>
            </a:r>
            <a:endParaRPr/>
          </a:p>
        </p:txBody>
      </p:sp>
      <p:cxnSp>
        <p:nvCxnSpPr>
          <p:cNvPr id="246" name="Google Shape;246;g3ec395ccb22_0_892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  <p:pic>
        <p:nvPicPr>
          <p:cNvPr id="247" name="Google Shape;247;g3ec395ccb22_0_8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3750" y="1049150"/>
            <a:ext cx="9433075" cy="350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1efebd5f3_0_11"/>
          <p:cNvSpPr txBox="1"/>
          <p:nvPr>
            <p:ph type="title"/>
          </p:nvPr>
        </p:nvSpPr>
        <p:spPr>
          <a:xfrm>
            <a:off x="2062800" y="2442050"/>
            <a:ext cx="51540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Arquitectura del software</a:t>
            </a:r>
            <a:endParaRPr sz="2800"/>
          </a:p>
        </p:txBody>
      </p:sp>
      <p:cxnSp>
        <p:nvCxnSpPr>
          <p:cNvPr id="253" name="Google Shape;253;g3f1efebd5f3_0_11"/>
          <p:cNvCxnSpPr/>
          <p:nvPr/>
        </p:nvCxnSpPr>
        <p:spPr>
          <a:xfrm>
            <a:off x="3190500" y="3203297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g3ec395ccb22_0_677" title="nivel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8550" y="89200"/>
            <a:ext cx="516609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g3ec662c42dc_0_1" title="Diagrama sin título-C4 - Nivel 2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0838" y="-49550"/>
            <a:ext cx="4582328" cy="535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g3ec662c42dc_0_13" title="Diagrama sin título-C4 - Nivel 3 - Web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0846" y="-21275"/>
            <a:ext cx="4783654" cy="518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g3ec662c42dc_2_9" title="Diagrama sin título-C4 - Nivel 3 - Movil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7400" y="0"/>
            <a:ext cx="644927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1efebd5f3_0_6"/>
          <p:cNvSpPr txBox="1"/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Modelo de datos</a:t>
            </a:r>
            <a:endParaRPr sz="2800"/>
          </a:p>
        </p:txBody>
      </p:sp>
      <p:cxnSp>
        <p:nvCxnSpPr>
          <p:cNvPr id="279" name="Google Shape;279;g3f1efebd5f3_0_6"/>
          <p:cNvCxnSpPr/>
          <p:nvPr/>
        </p:nvCxnSpPr>
        <p:spPr>
          <a:xfrm>
            <a:off x="3190500" y="3203297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g3ec395ccb22_0_685" title="Untitl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1375" y="21350"/>
            <a:ext cx="9225375" cy="5189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c662c42dc_0_25"/>
          <p:cNvSpPr txBox="1"/>
          <p:nvPr>
            <p:ph type="title"/>
          </p:nvPr>
        </p:nvSpPr>
        <p:spPr>
          <a:xfrm>
            <a:off x="938500" y="445025"/>
            <a:ext cx="6347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de datos (Mas relevantes)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cxnSp>
        <p:nvCxnSpPr>
          <p:cNvPr id="290" name="Google Shape;290;g3ec662c42dc_0_2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  <p:pic>
        <p:nvPicPr>
          <p:cNvPr id="291" name="Google Shape;291;g3ec662c42dc_0_25" title="Untitled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c395ccb22_0_164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Tecnologías utilizadas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cxnSp>
        <p:nvCxnSpPr>
          <p:cNvPr id="297" name="Google Shape;297;g3ec395ccb22_0_16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  <p:graphicFrame>
        <p:nvGraphicFramePr>
          <p:cNvPr id="298" name="Google Shape;298;g3ec395ccb22_0_164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{9878477D-3306-47C3-B9AD-5986BDE109DC}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🖥️ Frontend Web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⚙️ Backend / API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🗄️ Base de Datos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3"/>
                        </a:rPr>
                        <a:t>React.js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TailwindCSS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Node.js 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PostgreSQL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99" name="Google Shape;299;g3ec395ccb22_0_164"/>
          <p:cNvGraphicFramePr/>
          <p:nvPr/>
        </p:nvGraphicFramePr>
        <p:xfrm>
          <a:off x="952500" y="333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{9878477D-3306-47C3-B9AD-5986BDE109DC}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📱 App Móvil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☁️ Infraestructura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🎨 Diseño y Gestión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(Herramientas)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React Native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2921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Expo</a:t>
                      </a:r>
                      <a:endParaRPr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Supabase (cloud)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Figma (UI/UX)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Jira 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04800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Montserrat"/>
                        <a:buChar char="●"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Microsoft Office 365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"/>
          <p:cNvSpPr txBox="1"/>
          <p:nvPr>
            <p:ph idx="2" type="body"/>
          </p:nvPr>
        </p:nvSpPr>
        <p:spPr>
          <a:xfrm>
            <a:off x="509375" y="1256325"/>
            <a:ext cx="3913500" cy="3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/>
              <a:t>Se entregó un MVP funcional multiplataforma (web administrativa + app móvil) que cubre el flujo completo: agenda → ficha → plan de ejercicios → seguimiento.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/>
              <a:t>Se implementó control de acceso por 3 roles con seguridad RLS en las 9 tablas.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5" name="Google Shape;305;p25"/>
          <p:cNvSpPr txBox="1"/>
          <p:nvPr>
            <p:ph type="title"/>
          </p:nvPr>
        </p:nvSpPr>
        <p:spPr>
          <a:xfrm>
            <a:off x="888950" y="314925"/>
            <a:ext cx="72180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Resultados obtenidos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cxnSp>
        <p:nvCxnSpPr>
          <p:cNvPr id="306" name="Google Shape;306;p25"/>
          <p:cNvCxnSpPr/>
          <p:nvPr/>
        </p:nvCxnSpPr>
        <p:spPr>
          <a:xfrm>
            <a:off x="996475" y="3149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6"/>
              </a:srgbClr>
            </a:outerShdw>
          </a:effectLst>
        </p:spPr>
      </p:cxnSp>
      <p:sp>
        <p:nvSpPr>
          <p:cNvPr id="307" name="Google Shape;307;p25"/>
          <p:cNvSpPr txBox="1"/>
          <p:nvPr/>
        </p:nvSpPr>
        <p:spPr>
          <a:xfrm>
            <a:off x="4534700" y="1256325"/>
            <a:ext cx="3572400" cy="25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 habilitó una biblioteca de ejercicios con video que el paciente consume desde la app móvil, mejorando la adherencia.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 logró el registro de cumplimiento y nivel de dolor del paciente desde el móvil.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Funciones de valor agregado: exportación de ficha a PDF y dashboard con métricas/alertas.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c395ccb22_0_692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Obstáculos presentados durante el desarrollo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13" name="Google Shape;313;g3ec395ccb22_0_692"/>
          <p:cNvSpPr txBox="1"/>
          <p:nvPr>
            <p:ph idx="1" type="body"/>
          </p:nvPr>
        </p:nvSpPr>
        <p:spPr>
          <a:xfrm>
            <a:off x="800375" y="1464650"/>
            <a:ext cx="7398900" cy="1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Durante el desarrollo del proyecto se presentaron algunos desafíos relacionados con la integración de módulos, validación de datos y sincronización de información entre los distintos componentes del sistema. También surgieron conflictos de versiones en el repositorio compartido y ajustes en algunos requerimientos, lo que requirió organizar tareas y prioridades dentro de los sprints.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Estos obstáculos fueron abordados mediante reuniones de seguimiento, pruebas de integración y una mejor coordinación entre los integrantes del equipo.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50"/>
              <a:buNone/>
            </a:pPr>
            <a:r>
              <a:t/>
            </a:r>
            <a:endParaRPr sz="1200"/>
          </a:p>
        </p:txBody>
      </p:sp>
      <p:cxnSp>
        <p:nvCxnSpPr>
          <p:cNvPr id="314" name="Google Shape;314;g3ec395ccb22_0_692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0"/>
          <p:cNvSpPr txBox="1"/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DEMOSTRACIÓN DEL RESULTADO DEL PROYECTO</a:t>
            </a:r>
            <a:endParaRPr/>
          </a:p>
        </p:txBody>
      </p:sp>
      <p:cxnSp>
        <p:nvCxnSpPr>
          <p:cNvPr id="320" name="Google Shape;320;p30"/>
          <p:cNvCxnSpPr/>
          <p:nvPr/>
        </p:nvCxnSpPr>
        <p:spPr>
          <a:xfrm>
            <a:off x="3190500" y="3104197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6"/>
              </a:srgbClr>
            </a:outerShdw>
          </a:effectLst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dce1fb492_0_0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edce1fb492_0_0"/>
          <p:cNvSpPr txBox="1"/>
          <p:nvPr>
            <p:ph idx="1" type="body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7" name="Google Shape;327;g3edce1fb492_0_0" title="EDT_RehabContr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75" y="-201575"/>
            <a:ext cx="7729251" cy="5394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dce1fb492_0_6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edce1fb492_0_6"/>
          <p:cNvSpPr txBox="1"/>
          <p:nvPr>
            <p:ph idx="1" type="body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4" name="Google Shape;334;g3edce1fb492_0_6" title="EDT_RehabControl_Dem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175" y="-160625"/>
            <a:ext cx="7804750" cy="5330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c395ccb22_0_700"/>
          <p:cNvSpPr txBox="1"/>
          <p:nvPr>
            <p:ph type="title"/>
          </p:nvPr>
        </p:nvSpPr>
        <p:spPr>
          <a:xfrm>
            <a:off x="924877" y="760375"/>
            <a:ext cx="40062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PREGUNTAS DE LA COMISIÓN</a:t>
            </a:r>
            <a:endParaRPr/>
          </a:p>
        </p:txBody>
      </p:sp>
      <p:sp>
        <p:nvSpPr>
          <p:cNvPr id="340" name="Google Shape;340;g3ec395ccb22_0_700"/>
          <p:cNvSpPr txBox="1"/>
          <p:nvPr>
            <p:ph idx="1" type="subTitle"/>
          </p:nvPr>
        </p:nvSpPr>
        <p:spPr>
          <a:xfrm>
            <a:off x="924875" y="1684275"/>
            <a:ext cx="53001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Con esto finalizamos nuestra presentación. Agradecemos su atención e interés durante esta exposición. A continuación, daremos paso a la fase de preguntas, donde responderemos cualquier duda o consulta relacionada con el proyecto. Muchas gracias.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cxnSp>
        <p:nvCxnSpPr>
          <p:cNvPr id="341" name="Google Shape;341;g3ec395ccb22_0_700"/>
          <p:cNvCxnSpPr/>
          <p:nvPr/>
        </p:nvCxnSpPr>
        <p:spPr>
          <a:xfrm>
            <a:off x="1013400" y="1488797"/>
            <a:ext cx="2763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FFFFFF">
                <a:alpha val="50199"/>
              </a:srgbClr>
            </a:outerShdw>
          </a:effectLst>
        </p:spPr>
      </p:cxnSp>
      <p:pic>
        <p:nvPicPr>
          <p:cNvPr id="342" name="Google Shape;342;g3ec395ccb22_0_700" title="1-b8c9f702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75" y="3181600"/>
            <a:ext cx="3131899" cy="175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